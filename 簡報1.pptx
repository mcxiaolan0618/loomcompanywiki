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8" r:id="rId3"/>
    <p:sldId id="259" r:id="rId4"/>
    <p:sldId id="265" r:id="rId5"/>
    <p:sldId id="266" r:id="rId6"/>
    <p:sldId id="260" r:id="rId7"/>
    <p:sldId id="261" r:id="rId8"/>
    <p:sldId id="262" r:id="rId9"/>
    <p:sldId id="263" r:id="rId10"/>
    <p:sldId id="264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78093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401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5402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0082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025774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1580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5544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581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857501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3004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8435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EFCC1B1-73FF-4215-B3C8-C355EEF77D5A}" type="datetimeFigureOut">
              <a:rPr lang="zh-HK" altLang="en-US" smtClean="0"/>
              <a:t>20/10/2026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4A86DDF-5136-4AF0-A3AE-4078D1E409D5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6140721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6A0E032-EC4B-20FD-7254-5AB0C7F3B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98" y="4316"/>
            <a:ext cx="12206298" cy="762893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991DF2B-55E6-162B-2BA4-3730CFADF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F81649A-B3A3-A7C0-1698-6431254A5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96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1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D9B8F03-2950-E7EA-A724-5B2D5A8E7AE6}"/>
              </a:ext>
            </a:extLst>
          </p:cNvPr>
          <p:cNvSpPr txBox="1"/>
          <p:nvPr/>
        </p:nvSpPr>
        <p:spPr>
          <a:xfrm>
            <a:off x="1494131" y="87086"/>
            <a:ext cx="9203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！！！ </a:t>
            </a:r>
            <a:r>
              <a:rPr lang="en-US" altLang="zh-CN" dirty="0">
                <a:solidFill>
                  <a:srgbClr val="FF0000"/>
                </a:solidFill>
              </a:rPr>
              <a:t>CAUTION </a:t>
            </a:r>
            <a:r>
              <a:rPr lang="zh-CN" altLang="en-US" dirty="0">
                <a:solidFill>
                  <a:srgbClr val="FF0000"/>
                </a:solidFill>
              </a:rPr>
              <a:t>！！！</a:t>
            </a:r>
            <a:r>
              <a:rPr lang="en-US" altLang="zh-CN" dirty="0">
                <a:solidFill>
                  <a:srgbClr val="FF0000"/>
                </a:solidFill>
              </a:rPr>
              <a:t>CAUTION</a:t>
            </a:r>
            <a:r>
              <a:rPr lang="zh-CN" altLang="en-US" dirty="0">
                <a:solidFill>
                  <a:srgbClr val="FF0000"/>
                </a:solidFill>
              </a:rPr>
              <a:t>！！！观前提醒！！！</a:t>
            </a:r>
            <a:r>
              <a:rPr lang="en-US" altLang="zh-CN" dirty="0">
                <a:solidFill>
                  <a:srgbClr val="FF0000"/>
                </a:solidFill>
              </a:rPr>
              <a:t>CAUTION</a:t>
            </a:r>
            <a:r>
              <a:rPr lang="zh-CN" altLang="en-US" dirty="0">
                <a:solidFill>
                  <a:srgbClr val="FF0000"/>
                </a:solidFill>
              </a:rPr>
              <a:t>！！！ </a:t>
            </a:r>
            <a:r>
              <a:rPr lang="en-US" altLang="zh-CN" dirty="0">
                <a:solidFill>
                  <a:srgbClr val="FF0000"/>
                </a:solidFill>
              </a:rPr>
              <a:t>CAUTION</a:t>
            </a:r>
            <a:r>
              <a:rPr lang="zh-CN" altLang="en-US" dirty="0">
                <a:solidFill>
                  <a:srgbClr val="FF0000"/>
                </a:solidFill>
              </a:rPr>
              <a:t>！！！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2576285-440C-4338-F901-9D0F7276BAE4}"/>
              </a:ext>
            </a:extLst>
          </p:cNvPr>
          <p:cNvSpPr txBox="1"/>
          <p:nvPr/>
        </p:nvSpPr>
        <p:spPr>
          <a:xfrm>
            <a:off x="277740" y="665423"/>
            <a:ext cx="1163651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本作品是在都市世界观下，最不可能发生的时间线</a:t>
            </a:r>
            <a:endParaRPr lang="en-US" altLang="zh-CN" b="0" i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Inter"/>
            </a:endParaRP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在月计原本的时间线中，所有角色都已经寄了（），所以并不会与原作故事线发生冲突。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因为是其他世界线，所以具体公司与奇点与原作可能会有所不同</a:t>
            </a:r>
            <a:endParaRPr lang="en-US" altLang="zh-CN" b="0" i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Inter"/>
            </a:endParaRP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因为有时候可能得自己做一些设定，所以具体设定以官方为主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所有角色均为群友们写的，然后可以为角色</a:t>
            </a:r>
            <a:r>
              <a:rPr lang="en-US" altLang="zh-CN" b="0" i="0" dirty="0" err="1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rp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，所以某种意义上说坛友入？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我们亲爱的群友能操控故事大概走向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.jpg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，但可能会遇到</a:t>
            </a:r>
            <a:endParaRPr lang="en-US" altLang="zh-CN" b="0" i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Inter"/>
            </a:endParaRP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骰娘：大失败，不过我的骰娘对我很友好，所以应该不会有事吧？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同时他们也可以提供支线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(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间章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)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剧情以及异想体的灵感，这边我思考了一下或许可以设置一个安价之类的东西</a:t>
            </a:r>
            <a:endParaRPr lang="en-US" altLang="zh-CN" b="0" i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Inter"/>
            </a:endParaRP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如果大伙有好的间章、异想体或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NPC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的灵感，欢迎提供，当然会不会被选中是一回事了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...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在这条世界线里，主管的设定是有自己的情报部门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/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作战部门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/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科研部门，</a:t>
            </a:r>
            <a:endParaRPr lang="en-US" altLang="zh-CN" b="0" i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Inter"/>
            </a:endParaRPr>
          </a:p>
          <a:p>
            <a:pPr algn="just" latinLnBrk="1"/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L.E.R.D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全称是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Loom Company Root Reclamation Department (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织机公司逆根回收部门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)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。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这个部门是公司中负责回收逆根的部门，逆根会引发类似扭曲现象的事件，这个部门是去收拾这些烂摊子的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(</a:t>
            </a:r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确信</a:t>
            </a:r>
            <a:r>
              <a:rPr lang="en-US" altLang="zh-CN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)</a:t>
            </a:r>
          </a:p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备注：原作中的巴士部门的众人在此线为好结局</a:t>
            </a:r>
            <a:endParaRPr lang="en-US" altLang="zh-CN" b="0" i="0" dirty="0">
              <a:solidFill>
                <a:schemeClr val="bg2">
                  <a:lumMod val="50000"/>
                  <a:lumOff val="50000"/>
                </a:schemeClr>
              </a:solidFill>
              <a:effectLst/>
              <a:latin typeface="Inter"/>
            </a:endParaRPr>
          </a:p>
          <a:p>
            <a:pPr algn="just" latinLnBrk="1"/>
            <a:endParaRPr lang="en-US" altLang="zh-HK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这是本人第一次写同人文，虽然确定好了每个角色的章节大纲，但对于自己的文笔表示疑问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所以还请大家多多包容以及支持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57148413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9D9B8F03-2950-E7EA-A724-5B2D5A8E7AE6}"/>
              </a:ext>
            </a:extLst>
          </p:cNvPr>
          <p:cNvSpPr txBox="1"/>
          <p:nvPr/>
        </p:nvSpPr>
        <p:spPr>
          <a:xfrm>
            <a:off x="1494131" y="87086"/>
            <a:ext cx="9203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！！！ </a:t>
            </a:r>
            <a:r>
              <a:rPr lang="en-US" altLang="zh-CN" dirty="0">
                <a:solidFill>
                  <a:srgbClr val="FF0000"/>
                </a:solidFill>
              </a:rPr>
              <a:t>CAUTION </a:t>
            </a:r>
            <a:r>
              <a:rPr lang="zh-CN" altLang="en-US" dirty="0">
                <a:solidFill>
                  <a:srgbClr val="FF0000"/>
                </a:solidFill>
              </a:rPr>
              <a:t>！！！</a:t>
            </a:r>
            <a:r>
              <a:rPr lang="en-US" altLang="zh-CN" dirty="0">
                <a:solidFill>
                  <a:srgbClr val="FF0000"/>
                </a:solidFill>
              </a:rPr>
              <a:t>CAUTION</a:t>
            </a:r>
            <a:r>
              <a:rPr lang="zh-CN" altLang="en-US" dirty="0">
                <a:solidFill>
                  <a:srgbClr val="FF0000"/>
                </a:solidFill>
              </a:rPr>
              <a:t>！！！观前提醒！！！</a:t>
            </a:r>
            <a:r>
              <a:rPr lang="en-US" altLang="zh-CN" dirty="0">
                <a:solidFill>
                  <a:srgbClr val="FF0000"/>
                </a:solidFill>
              </a:rPr>
              <a:t>CAUTION</a:t>
            </a:r>
            <a:r>
              <a:rPr lang="zh-CN" altLang="en-US" dirty="0">
                <a:solidFill>
                  <a:srgbClr val="FF0000"/>
                </a:solidFill>
              </a:rPr>
              <a:t>！！！ </a:t>
            </a:r>
            <a:r>
              <a:rPr lang="en-US" altLang="zh-CN" dirty="0">
                <a:solidFill>
                  <a:srgbClr val="FF0000"/>
                </a:solidFill>
              </a:rPr>
              <a:t>CAUTION</a:t>
            </a:r>
            <a:r>
              <a:rPr lang="zh-CN" altLang="en-US" dirty="0">
                <a:solidFill>
                  <a:srgbClr val="FF0000"/>
                </a:solidFill>
              </a:rPr>
              <a:t>！！！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2576285-440C-4338-F901-9D0F7276BAE4}"/>
              </a:ext>
            </a:extLst>
          </p:cNvPr>
          <p:cNvSpPr txBox="1"/>
          <p:nvPr/>
        </p:nvSpPr>
        <p:spPr>
          <a:xfrm>
            <a:off x="159134" y="665423"/>
            <a:ext cx="1187376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latinLnBrk="1"/>
            <a:r>
              <a:rPr lang="zh-CN" altLang="en-US" b="0" i="0" dirty="0">
                <a:solidFill>
                  <a:schemeClr val="bg2">
                    <a:lumMod val="50000"/>
                    <a:lumOff val="50000"/>
                  </a:schemeClr>
                </a:solidFill>
                <a:effectLst/>
                <a:latin typeface="Inter"/>
              </a:rPr>
              <a:t>以下为感谢名单：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en-US" altLang="zh-HK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@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闪亮的大白鹅 大纲部分剧情灵感来源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en-US" altLang="zh-HK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@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变成光守护冬时小姐 大纲大部分编剧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以及其他进行车卡的群友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endParaRPr lang="en-US" altLang="zh-HK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en-US" altLang="zh-HK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@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正在绘画的废影</a:t>
            </a:r>
            <a:r>
              <a:rPr lang="en-US" altLang="zh-HK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 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前期（测试服）</a:t>
            </a:r>
            <a:r>
              <a:rPr lang="en-US" altLang="zh-CN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logo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绘画</a:t>
            </a:r>
            <a:endParaRPr lang="en-US" altLang="zh-HK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en-US" altLang="zh-HK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@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枫梨糖 感谢大大的跑团捏捏模板，让我可以零花费制作差分</a:t>
            </a:r>
            <a:endParaRPr lang="en-US" altLang="zh-HK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en-US" altLang="zh-HK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@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龙利鱼腥草 绘画员工</a:t>
            </a:r>
            <a:r>
              <a:rPr lang="en-US" altLang="zh-CN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logo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之人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最后是感谢 边狱巴士灰机</a:t>
            </a:r>
            <a:r>
              <a:rPr lang="en-US" altLang="zh-CN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Wiki 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因为本人喜欢设计人格与</a:t>
            </a:r>
            <a:r>
              <a:rPr lang="en-US" altLang="zh-CN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ego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，做了一个网站进行储存，但苦于本人不怎么会设计</a:t>
            </a:r>
            <a:r>
              <a:rPr lang="en-US" altLang="zh-CN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UI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，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直接或间接参考了边巴</a:t>
            </a:r>
            <a:r>
              <a:rPr lang="en-US" altLang="zh-CN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Wiki</a:t>
            </a:r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，还有获取一些效果的图，我手绘是一大坨，不太能弄，所以直接拿了原版的一些图标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本作品并不盈利，只为为爱发电的作品。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  <a:p>
            <a:pPr algn="just" latinLnBrk="1"/>
            <a:r>
              <a:rPr lang="zh-CN" altLang="en-US" dirty="0">
                <a:solidFill>
                  <a:schemeClr val="bg2">
                    <a:lumMod val="50000"/>
                    <a:lumOff val="50000"/>
                  </a:schemeClr>
                </a:solidFill>
                <a:latin typeface="Inter"/>
              </a:rPr>
              <a:t>作者本人对战力有着自己的标准，所以论战请到别处，谢谢</a:t>
            </a:r>
            <a:endParaRPr lang="en-US" altLang="zh-CN" dirty="0">
              <a:solidFill>
                <a:schemeClr val="bg2">
                  <a:lumMod val="50000"/>
                  <a:lumOff val="50000"/>
                </a:schemeClr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72720508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0A8B1DE-4D39-E08C-B2C8-6F0DE06E5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969" y="188969"/>
            <a:ext cx="6480061" cy="648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5669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2450B6D-1846-A5CF-5A82-6F8CD373F3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6105"/>
            <a:ext cx="12192000" cy="579924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A562DA0-3B9C-218C-E3CB-81E02D8129A1}"/>
              </a:ext>
            </a:extLst>
          </p:cNvPr>
          <p:cNvSpPr txBox="1"/>
          <p:nvPr/>
        </p:nvSpPr>
        <p:spPr>
          <a:xfrm>
            <a:off x="11332769" y="475662"/>
            <a:ext cx="461665" cy="632480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疾病在某种程度上是天才的表现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天才本身就是一种疾病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。</a:t>
            </a:r>
            <a:endParaRPr lang="zh-HK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6930927-9A4A-CE4E-2D29-8C96CDD9AFE5}"/>
              </a:ext>
            </a:extLst>
          </p:cNvPr>
          <p:cNvSpPr txBox="1"/>
          <p:nvPr/>
        </p:nvSpPr>
        <p:spPr>
          <a:xfrm>
            <a:off x="5307294" y="1654659"/>
            <a:ext cx="33343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HK" altLang="en-US" sz="7200" dirty="0">
                <a:solidFill>
                  <a:srgbClr val="FFFF00"/>
                </a:solidFill>
              </a:rPr>
              <a:t>萨尔温</a:t>
            </a:r>
            <a:endParaRPr lang="en-US" altLang="zh-HK" sz="7200" dirty="0">
              <a:solidFill>
                <a:srgbClr val="FFFF00"/>
              </a:solidFill>
            </a:endParaRPr>
          </a:p>
          <a:p>
            <a:r>
              <a:rPr lang="en-US" altLang="zh-HK" sz="54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Salween</a:t>
            </a:r>
            <a:endParaRPr lang="zh-HK" altLang="en-US" sz="7200" dirty="0">
              <a:solidFill>
                <a:srgbClr val="FFFF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3983E26-D99A-F8EB-3941-D984E3A27538}"/>
              </a:ext>
            </a:extLst>
          </p:cNvPr>
          <p:cNvSpPr txBox="1"/>
          <p:nvPr/>
        </p:nvSpPr>
        <p:spPr>
          <a:xfrm>
            <a:off x="5307294" y="3589443"/>
            <a:ext cx="4426212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职位：工程师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/</a:t>
            </a:r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员工 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出身地：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11</a:t>
            </a:r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区 性别：女 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曾经是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[</a:t>
            </a:r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已编辑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]</a:t>
            </a:r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翼中不被认可的研究员，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最后成为了一个事务所的收尾人。 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思维缜密，观察力极强，似乎精于计算。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但与她共事需注意，其才华若被轻视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.</a:t>
            </a: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极易引发她毫不掩饰的恼怒与敌意。 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实际上，她的发明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[</a:t>
            </a:r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已编辑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]</a:t>
            </a:r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，因此被打压了下来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如同不是从都市之中诞生的事物一般</a:t>
            </a:r>
            <a:r>
              <a:rPr lang="en-US" altLang="zh-CN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……</a:t>
            </a: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为了避免“一些问题”，必须尽早使其放弃</a:t>
            </a:r>
            <a:endParaRPr lang="en-US" altLang="zh-CN" sz="1600" b="0" i="0" dirty="0">
              <a:solidFill>
                <a:srgbClr val="FFFF00"/>
              </a:solidFill>
              <a:effectLst/>
              <a:latin typeface="Noto Sans SC" panose="020B0200000000000000" pitchFamily="34" charset="-128"/>
              <a:ea typeface="Noto Sans SC" panose="020B0200000000000000" pitchFamily="34" charset="-128"/>
            </a:endParaRPr>
          </a:p>
          <a:p>
            <a:r>
              <a:rPr lang="zh-CN" altLang="en-US" sz="1600" b="0" i="0" dirty="0">
                <a:solidFill>
                  <a:srgbClr val="FFFF00"/>
                </a:solidFill>
                <a:effectLst/>
                <a:latin typeface="Noto Sans SC" panose="020B0200000000000000" pitchFamily="34" charset="-128"/>
                <a:ea typeface="Noto Sans SC" panose="020B0200000000000000" pitchFamily="34" charset="-128"/>
              </a:rPr>
              <a:t>对她来说，是个过分的决定。</a:t>
            </a:r>
            <a:endParaRPr lang="zh-HK" altLang="en-US" sz="16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0980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DB48864-3ACD-923B-7D47-372270061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81826" cy="6858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5F06AFB-83F9-69DB-4304-24457E83A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147" y="0"/>
            <a:ext cx="7363853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58087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4E58140-6F53-3C0D-DD1C-47289222E9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36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2469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66EEC53-EB52-D48A-120E-3EDA4ECF1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61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2335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5C0C52D-40C4-D623-8BEB-FC1D6C2AE8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40264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74BEEC2-03F8-D661-B2DC-F3AEDBC97E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132" y="0"/>
            <a:ext cx="744006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32572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B666265-6C80-506C-1B68-198328C02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437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5570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6A0E032-EC4B-20FD-7254-5AB0C7F3B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98" y="4316"/>
            <a:ext cx="12206298" cy="762893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991DF2B-55E6-162B-2BA4-3730CFADFD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F81649A-B3A3-A7C0-1698-6431254A5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96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4420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</TotalTime>
  <Words>849</Words>
  <Application>Microsoft Office PowerPoint</Application>
  <PresentationFormat>寬螢幕</PresentationFormat>
  <Paragraphs>48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Inter</vt:lpstr>
      <vt:lpstr>Noto Sans SC</vt:lpstr>
      <vt:lpstr>quote-cjk-patch</vt:lpstr>
      <vt:lpstr>Aptos</vt:lpstr>
      <vt:lpstr>Aptos Display</vt:lpstr>
      <vt:lpstr>Arial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 Siu Yik (250038713)</dc:creator>
  <cp:lastModifiedBy>OR Siu Yik (250038713)</cp:lastModifiedBy>
  <cp:revision>2</cp:revision>
  <dcterms:created xsi:type="dcterms:W3CDTF">2026-09-22T04:52:16Z</dcterms:created>
  <dcterms:modified xsi:type="dcterms:W3CDTF">2026-10-20T07:05:37Z</dcterms:modified>
</cp:coreProperties>
</file>